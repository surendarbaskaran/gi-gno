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f72f63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f72f63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f72f631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3f72f63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3f72f631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3f72f631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f72f63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3f72f63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f72f631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f72f631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f72f631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3f72f631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3f72f631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3f72f631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f72f631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f72f631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f72f631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3f72f631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Geometry-Informed Graph Neural Operator for Speeding Up CFD-Based Vehicle Aerodynamic Analysis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391175" y="3277175"/>
            <a:ext cx="43896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00"/>
              <a:t>Name :     Surendar Baskaran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00"/>
              <a:t>Roll No :   CH24M576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00"/>
              <a:t>Mentors:   Tanmay Santra,Rajib Dutta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Introduction/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CFD simulations are accurate but extremely computationally expensive (hours per geometry).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Complex 3D aircraft like BWB exhibit nonlinear aerodynamic interactions.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Need for </a:t>
            </a:r>
            <a:r>
              <a:rPr b="1" lang="en" sz="1600">
                <a:solidFill>
                  <a:schemeClr val="dk1"/>
                </a:solidFill>
              </a:rPr>
              <a:t>fast, generalizable surrogate models</a:t>
            </a:r>
            <a:r>
              <a:rPr lang="en" sz="1600">
                <a:solidFill>
                  <a:schemeClr val="dk1"/>
                </a:solidFill>
              </a:rPr>
              <a:t> for surface-pressure and aerodynamic coefficients.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Neural Operators + Geometric Deep Learning offer </a:t>
            </a:r>
            <a:r>
              <a:rPr b="1" lang="en" sz="1600">
                <a:solidFill>
                  <a:schemeClr val="dk1"/>
                </a:solidFill>
              </a:rPr>
              <a:t>near real-time aerodynamic prediction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Why This Problem Matters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Need a method that captures both: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Local geometric features (edges, curvature)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Global aerodynamic interactions (wake, lift distribution)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Existing Approaches: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ROMs (POD/Kriging):</a:t>
            </a:r>
            <a:r>
              <a:rPr lang="en">
                <a:solidFill>
                  <a:schemeClr val="dk1"/>
                </a:solidFill>
              </a:rPr>
              <a:t> Fast but fail on nonlinear 3D flows.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CNN-based models:</a:t>
            </a:r>
            <a:r>
              <a:rPr lang="en">
                <a:solidFill>
                  <a:schemeClr val="dk1"/>
                </a:solidFill>
              </a:rPr>
              <a:t> Grid-dependent, unsuitable for arbitrary aircraft geometries.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PointNet / PointNet++:</a:t>
            </a:r>
            <a:r>
              <a:rPr lang="en">
                <a:solidFill>
                  <a:schemeClr val="dk1"/>
                </a:solidFill>
              </a:rPr>
              <a:t> Good for global metrics; poor for Cp distribution.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MeshGraphNets:</a:t>
            </a:r>
            <a:r>
              <a:rPr lang="en">
                <a:solidFill>
                  <a:schemeClr val="dk1"/>
                </a:solidFill>
              </a:rPr>
              <a:t> Strong local mesh reasoning; limited global flow capture.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Neural Operators (FNO/GNO/GINO):</a:t>
            </a:r>
            <a:r>
              <a:rPr lang="en">
                <a:solidFill>
                  <a:schemeClr val="dk1"/>
                </a:solidFill>
              </a:rPr>
              <a:t> Excellent global modeling; no prior use on aircraft surface-only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work combines </a:t>
            </a:r>
            <a:r>
              <a:rPr b="1" lang="en">
                <a:solidFill>
                  <a:schemeClr val="dk1"/>
                </a:solidFill>
              </a:rPr>
              <a:t>geometry-aware GNN</a:t>
            </a:r>
            <a:r>
              <a:rPr lang="en">
                <a:solidFill>
                  <a:schemeClr val="dk1"/>
                </a:solidFill>
              </a:rPr>
              <a:t> + </a:t>
            </a:r>
            <a:r>
              <a:rPr b="1" lang="en">
                <a:solidFill>
                  <a:schemeClr val="dk1"/>
                </a:solidFill>
              </a:rPr>
              <a:t>neural operators</a:t>
            </a:r>
            <a:r>
              <a:rPr lang="en">
                <a:solidFill>
                  <a:schemeClr val="dk1"/>
                </a:solidFill>
              </a:rPr>
              <a:t> for </a:t>
            </a:r>
            <a:r>
              <a:rPr b="1" lang="en">
                <a:solidFill>
                  <a:schemeClr val="dk1"/>
                </a:solidFill>
              </a:rPr>
              <a:t>surface-only BWB aerodynamic prediction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: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Predict </a:t>
            </a:r>
            <a:r>
              <a:rPr b="1" lang="en">
                <a:solidFill>
                  <a:schemeClr val="dk1"/>
                </a:solidFill>
              </a:rPr>
              <a:t>surface pressure distribution (Cp)</a:t>
            </a:r>
            <a:r>
              <a:rPr lang="en">
                <a:solidFill>
                  <a:schemeClr val="dk1"/>
                </a:solidFill>
              </a:rPr>
              <a:t> and aerodynamic coefficients </a:t>
            </a:r>
            <a:r>
              <a:rPr b="1" lang="en">
                <a:solidFill>
                  <a:schemeClr val="dk1"/>
                </a:solidFill>
              </a:rPr>
              <a:t>CL, CD.</a:t>
            </a:r>
            <a:endParaRPr b="1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Using </a:t>
            </a:r>
            <a:r>
              <a:rPr b="1" lang="en">
                <a:solidFill>
                  <a:schemeClr val="dk1"/>
                </a:solidFill>
              </a:rPr>
              <a:t>only surface mesh geometry</a:t>
            </a:r>
            <a:r>
              <a:rPr lang="en">
                <a:solidFill>
                  <a:schemeClr val="dk1"/>
                </a:solidFill>
              </a:rPr>
              <a:t> of BWB aircraft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Learn a </a:t>
            </a:r>
            <a:r>
              <a:rPr b="1" lang="en">
                <a:solidFill>
                  <a:schemeClr val="dk1"/>
                </a:solidFill>
              </a:rPr>
              <a:t>function-to-function aerodynamic operator</a:t>
            </a:r>
            <a:endParaRPr b="1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Ensure </a:t>
            </a:r>
            <a:r>
              <a:rPr b="1" lang="en">
                <a:solidFill>
                  <a:schemeClr val="dk1"/>
                </a:solidFill>
              </a:rPr>
              <a:t>generalization to unseen geometries</a:t>
            </a:r>
            <a:endParaRPr b="1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Enable </a:t>
            </a:r>
            <a:r>
              <a:rPr b="1" lang="en">
                <a:solidFill>
                  <a:schemeClr val="dk1"/>
                </a:solidFill>
              </a:rPr>
              <a:t>rapid inference</a:t>
            </a:r>
            <a:r>
              <a:rPr lang="en">
                <a:solidFill>
                  <a:schemeClr val="dk1"/>
                </a:solidFill>
              </a:rPr>
              <a:t> without full CFD runs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Architecture (GA-GNO)</a:t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3200925" y="1108425"/>
            <a:ext cx="2210400" cy="11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Graph Encoder: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Local kernel on mesh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Message passing to capture curvature, edges, local topology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601400" y="1021725"/>
            <a:ext cx="2127600" cy="1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Latent Grid Mapper: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Projects irregular mesh → structured latent grid 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Enables global ops</a:t>
            </a:r>
            <a:endParaRPr sz="1200"/>
          </a:p>
        </p:txBody>
      </p:sp>
      <p:sp>
        <p:nvSpPr>
          <p:cNvPr id="81" name="Google Shape;81;p17"/>
          <p:cNvSpPr/>
          <p:nvPr/>
        </p:nvSpPr>
        <p:spPr>
          <a:xfrm>
            <a:off x="6727875" y="3268950"/>
            <a:ext cx="1962300" cy="133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Spectral </a:t>
            </a:r>
            <a:r>
              <a:rPr b="1" lang="en" sz="1200"/>
              <a:t>Operator</a:t>
            </a:r>
            <a:r>
              <a:rPr b="1" lang="en" sz="1200">
                <a:solidFill>
                  <a:schemeClr val="dk1"/>
                </a:solidFill>
              </a:rPr>
              <a:t> (FNO ) Block :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Fourier convolution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Captures global flow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interactions: wake, pressure recovery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412725" y="3289650"/>
            <a:ext cx="1786800" cy="1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Graph Decoder: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Interpolates latent grid predictions back to surface mesh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Outputs Cp at nodes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11700" y="3376350"/>
            <a:ext cx="1786800" cy="11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Aerodynamic Outputs: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Surface Cp field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CL, CD via integration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11700" y="1062975"/>
            <a:ext cx="2210400" cy="120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Input Geometry: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/>
              <a:t> </a:t>
            </a:r>
            <a:r>
              <a:rPr lang="en" sz="1200"/>
              <a:t>Surface mesh (V, 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• Node features: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coords, normals, curvature </a:t>
            </a:r>
            <a:endParaRPr sz="1200"/>
          </a:p>
        </p:txBody>
      </p:sp>
      <p:cxnSp>
        <p:nvCxnSpPr>
          <p:cNvPr id="85" name="Google Shape;85;p17"/>
          <p:cNvCxnSpPr>
            <a:endCxn id="79" idx="1"/>
          </p:cNvCxnSpPr>
          <p:nvPr/>
        </p:nvCxnSpPr>
        <p:spPr>
          <a:xfrm>
            <a:off x="2542425" y="1665975"/>
            <a:ext cx="6585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7"/>
          <p:cNvCxnSpPr>
            <a:stCxn id="79" idx="3"/>
            <a:endCxn id="80" idx="1"/>
          </p:cNvCxnSpPr>
          <p:nvPr/>
        </p:nvCxnSpPr>
        <p:spPr>
          <a:xfrm>
            <a:off x="5411325" y="1667175"/>
            <a:ext cx="119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7"/>
          <p:cNvCxnSpPr>
            <a:stCxn id="80" idx="2"/>
            <a:endCxn id="81" idx="0"/>
          </p:cNvCxnSpPr>
          <p:nvPr/>
        </p:nvCxnSpPr>
        <p:spPr>
          <a:xfrm>
            <a:off x="7665200" y="2312625"/>
            <a:ext cx="43800" cy="9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1" idx="1"/>
            <a:endCxn id="82" idx="3"/>
          </p:cNvCxnSpPr>
          <p:nvPr/>
        </p:nvCxnSpPr>
        <p:spPr>
          <a:xfrm rot="10800000">
            <a:off x="5199375" y="3935100"/>
            <a:ext cx="152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>
            <a:stCxn id="82" idx="1"/>
            <a:endCxn id="83" idx="3"/>
          </p:cNvCxnSpPr>
          <p:nvPr/>
        </p:nvCxnSpPr>
        <p:spPr>
          <a:xfrm rot="10800000">
            <a:off x="2098425" y="3935100"/>
            <a:ext cx="13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Pipeline:</a:t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3200925" y="1138650"/>
            <a:ext cx="2210400" cy="144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Train–Test Split 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Leave-one-geometry-type-out evaluation.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Unseen geometry sets reserved for testing.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Ensures generalization assessment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601400" y="784975"/>
            <a:ext cx="2127600" cy="211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Model Training (GA-GNO)</a:t>
            </a:r>
            <a:r>
              <a:rPr b="1" lang="en" sz="1200"/>
              <a:t>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Graph encoder learns local geometry features.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Latent grid + spectral operator for globals.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Decoder reconstructs Cp on mesh.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Loss: Cp error + CL/CD error.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Optimizer: Adam, early stopping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p18"/>
          <p:cNvSpPr/>
          <p:nvPr/>
        </p:nvSpPr>
        <p:spPr>
          <a:xfrm>
            <a:off x="6684050" y="3356725"/>
            <a:ext cx="1962300" cy="15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Validation &amp; Error Analysis </a:t>
            </a:r>
            <a:r>
              <a:rPr b="1" lang="en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Evaluate Cp field accuracy (L2, RMSE).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Measure coefficient errors (CL, CD).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Visualize error maps &amp; distribution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247425" y="3455475"/>
            <a:ext cx="2127600" cy="13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Baseline Benchmarking </a:t>
            </a:r>
            <a:r>
              <a:rPr b="1" lang="en" sz="1200"/>
              <a:t>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Retrain MeshGraphNets, PointNet++, FNO/GNO on BlendedNet for a fair comparison.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 identical data splits &amp; preprocessing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11700" y="3253425"/>
            <a:ext cx="1786800" cy="16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Final Evaluation 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Compare accuracy, generalization, speed.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Measure GPU memory &amp; inference time.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Highlight generalization to unseen shapes. Quantify speedup vs CFD and baselines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11700" y="1168175"/>
            <a:ext cx="2210400" cy="144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Data Preparation </a:t>
            </a:r>
            <a:r>
              <a:rPr b="1" lang="en" sz="1200"/>
              <a:t>: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Load BlendedNet geometries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Compute node features (coords, normals, k)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Build graph structure</a:t>
            </a:r>
            <a:r>
              <a:rPr lang="en" sz="1200"/>
              <a:t> (V, E) </a:t>
            </a:r>
            <a:endParaRPr sz="1200"/>
          </a:p>
        </p:txBody>
      </p:sp>
      <p:cxnSp>
        <p:nvCxnSpPr>
          <p:cNvPr id="101" name="Google Shape;101;p18"/>
          <p:cNvCxnSpPr>
            <a:endCxn id="95" idx="1"/>
          </p:cNvCxnSpPr>
          <p:nvPr/>
        </p:nvCxnSpPr>
        <p:spPr>
          <a:xfrm>
            <a:off x="2542425" y="1859850"/>
            <a:ext cx="6585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8"/>
          <p:cNvCxnSpPr>
            <a:stCxn id="95" idx="3"/>
            <a:endCxn id="96" idx="1"/>
          </p:cNvCxnSpPr>
          <p:nvPr/>
        </p:nvCxnSpPr>
        <p:spPr>
          <a:xfrm flipH="1" rot="10800000">
            <a:off x="5411325" y="1843650"/>
            <a:ext cx="11901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8"/>
          <p:cNvCxnSpPr>
            <a:stCxn id="96" idx="2"/>
            <a:endCxn id="97" idx="0"/>
          </p:cNvCxnSpPr>
          <p:nvPr/>
        </p:nvCxnSpPr>
        <p:spPr>
          <a:xfrm>
            <a:off x="7665200" y="2902375"/>
            <a:ext cx="0" cy="4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8"/>
          <p:cNvCxnSpPr>
            <a:stCxn id="97" idx="1"/>
            <a:endCxn id="98" idx="3"/>
          </p:cNvCxnSpPr>
          <p:nvPr/>
        </p:nvCxnSpPr>
        <p:spPr>
          <a:xfrm rot="10800000">
            <a:off x="5375150" y="4149625"/>
            <a:ext cx="13089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8"/>
          <p:cNvCxnSpPr>
            <a:stCxn id="98" idx="1"/>
            <a:endCxn id="99" idx="3"/>
          </p:cNvCxnSpPr>
          <p:nvPr/>
        </p:nvCxnSpPr>
        <p:spPr>
          <a:xfrm rot="10800000">
            <a:off x="2098425" y="4092975"/>
            <a:ext cx="1149000" cy="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Strategy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No baseline models exist for BlendedNet → retraining required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Baselines to retrain: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MeshGraphNets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PointNet / PointNet++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FNO / GNO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All baselines trained with identical: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Preprocessing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Train/validation split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Geometry hold-out protocol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Metrics: L2 error, RMSE, CL/CD error, inference time, GPU memory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 title="BW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950" y="940552"/>
            <a:ext cx="4752399" cy="17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: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249725" y="1173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BlendedNet (2025)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999+ BWB aircraft geometries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Surface-only pressure coefficients (Cp)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Variation in sweep, taper, camber, twist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Mesh size: ~100k–300k nodes per geometry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Ideal for operator learning (consistent mesh topology, high geometric diversity)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Results / Simulation Plan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Cp field prediction within low L2 error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Accurate lift &amp; drag coefficients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Speedup: </a:t>
            </a:r>
            <a:r>
              <a:rPr b="1" lang="en">
                <a:solidFill>
                  <a:schemeClr val="dk1"/>
                </a:solidFill>
              </a:rPr>
              <a:t>hundreds to thousands × faster</a:t>
            </a:r>
            <a:r>
              <a:rPr lang="en">
                <a:solidFill>
                  <a:schemeClr val="dk1"/>
                </a:solidFill>
              </a:rPr>
              <a:t> than CFD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Baseline comparison expected to show: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GA-GNO &gt; PointNet (for field prediction)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GA-GNO &gt; MeshGraphNet (for global flow capture)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GA-GNO ~ GINO performance but surface-only, lower computation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a geometry-aware neural operator for BWB aerodynamics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Integrates local GNN reasoning + global spectral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fast, accurate, surface-only aerodynamic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Meets scalability and generalization requirements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